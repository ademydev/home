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200000">
            <a:off x="-914400" y="0"/>
            <a:ext cx="2560320" cy="6858000"/>
          </a:xfrm>
          <a:prstGeom prst="rect">
            <a:avLst/>
          </a:prstGeom>
          <a:solidFill>
            <a:srgbClr val="12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200000">
            <a:off x="137159" y="0"/>
            <a:ext cx="2560320" cy="6858000"/>
          </a:xfrm>
          <a:prstGeom prst="rect">
            <a:avLst/>
          </a:prstGeom>
          <a:solidFill>
            <a:srgbClr val="18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200000">
            <a:off x="1188719" y="0"/>
            <a:ext cx="2560320" cy="6858000"/>
          </a:xfrm>
          <a:prstGeom prst="rect">
            <a:avLst/>
          </a:prstGeom>
          <a:solidFill>
            <a:srgbClr val="1F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200000">
            <a:off x="2240279" y="0"/>
            <a:ext cx="2560320" cy="6858000"/>
          </a:xfrm>
          <a:prstGeom prst="rect">
            <a:avLst/>
          </a:prstGeom>
          <a:solidFill>
            <a:srgbClr val="26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200000">
            <a:off x="3291839" y="0"/>
            <a:ext cx="2560320" cy="6858000"/>
          </a:xfrm>
          <a:prstGeom prst="rect">
            <a:avLst/>
          </a:prstGeom>
          <a:solidFill>
            <a:srgbClr val="2C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200000">
            <a:off x="4343400" y="0"/>
            <a:ext cx="2560320" cy="6858000"/>
          </a:xfrm>
          <a:prstGeom prst="rect">
            <a:avLst/>
          </a:prstGeom>
          <a:solidFill>
            <a:srgbClr val="332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200000">
            <a:off x="5394959" y="0"/>
            <a:ext cx="2560320" cy="6858000"/>
          </a:xfrm>
          <a:prstGeom prst="rect">
            <a:avLst/>
          </a:prstGeom>
          <a:solidFill>
            <a:srgbClr val="3A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200000">
            <a:off x="6446519" y="0"/>
            <a:ext cx="2560320" cy="6858000"/>
          </a:xfrm>
          <a:prstGeom prst="rect">
            <a:avLst/>
          </a:prstGeom>
          <a:solidFill>
            <a:srgbClr val="41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200000">
            <a:off x="7498079" y="0"/>
            <a:ext cx="2560320" cy="6858000"/>
          </a:xfrm>
          <a:prstGeom prst="rect">
            <a:avLst/>
          </a:prstGeom>
          <a:solidFill>
            <a:srgbClr val="47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200000">
            <a:off x="8549640" y="0"/>
            <a:ext cx="2560320" cy="6858000"/>
          </a:xfrm>
          <a:prstGeom prst="rect">
            <a:avLst/>
          </a:prstGeom>
          <a:solidFill>
            <a:srgbClr val="4E32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200000">
            <a:off x="9601200" y="0"/>
            <a:ext cx="2560320" cy="6858000"/>
          </a:xfrm>
          <a:prstGeom prst="rect">
            <a:avLst/>
          </a:prstGeom>
          <a:solidFill>
            <a:srgbClr val="55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200000">
            <a:off x="10652759" y="0"/>
            <a:ext cx="2560320" cy="6858000"/>
          </a:xfrm>
          <a:prstGeom prst="rect">
            <a:avLst/>
          </a:prstGeom>
          <a:solidFill>
            <a:srgbClr val="5C3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1554480"/>
            <a:ext cx="10835640" cy="4480560"/>
          </a:xfrm>
          <a:prstGeom prst="round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MEKKE'NİN TARİHÎ ÖNEMİ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1874519"/>
            <a:ext cx="1005840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300">
                <a:solidFill>
                  <a:srgbClr val="23282D"/>
                </a:solidFill>
              </a:defRPr>
            </a:pPr>
            <a:r>
              <a:t>Dinî • Ekonomik • Siyasî • Toplumsal yapı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236208"/>
            <a:ext cx="1371600" cy="109728"/>
          </a:xfrm>
          <a:prstGeom prst="rect">
            <a:avLst/>
          </a:prstGeom>
          <a:solidFill>
            <a:srgbClr val="C2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200000">
            <a:off x="-914400" y="0"/>
            <a:ext cx="2560320" cy="6858000"/>
          </a:xfrm>
          <a:prstGeom prst="rect">
            <a:avLst/>
          </a:prstGeom>
          <a:solidFill>
            <a:srgbClr val="103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200000">
            <a:off x="137159" y="0"/>
            <a:ext cx="2560320" cy="6858000"/>
          </a:xfrm>
          <a:prstGeom prst="rect">
            <a:avLst/>
          </a:prstGeom>
          <a:solidFill>
            <a:srgbClr val="114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200000">
            <a:off x="1188719" y="0"/>
            <a:ext cx="2560320" cy="6858000"/>
          </a:xfrm>
          <a:prstGeom prst="rect">
            <a:avLst/>
          </a:prstGeom>
          <a:solidFill>
            <a:srgbClr val="124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200000">
            <a:off x="2240279" y="0"/>
            <a:ext cx="2560320" cy="6858000"/>
          </a:xfrm>
          <a:prstGeom prst="rect">
            <a:avLst/>
          </a:prstGeom>
          <a:solidFill>
            <a:srgbClr val="134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200000">
            <a:off x="3291839" y="0"/>
            <a:ext cx="2560320" cy="6858000"/>
          </a:xfrm>
          <a:prstGeom prst="rect">
            <a:avLst/>
          </a:prstGeom>
          <a:solidFill>
            <a:srgbClr val="144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200000">
            <a:off x="4343400" y="0"/>
            <a:ext cx="2560320" cy="6858000"/>
          </a:xfrm>
          <a:prstGeom prst="rect">
            <a:avLst/>
          </a:prstGeom>
          <a:solidFill>
            <a:srgbClr val="155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200000">
            <a:off x="5394959" y="0"/>
            <a:ext cx="2560320" cy="6858000"/>
          </a:xfrm>
          <a:prstGeom prst="rect">
            <a:avLst/>
          </a:prstGeom>
          <a:solidFill>
            <a:srgbClr val="175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200000">
            <a:off x="6446519" y="0"/>
            <a:ext cx="2560320" cy="6858000"/>
          </a:xfrm>
          <a:prstGeom prst="rect">
            <a:avLst/>
          </a:prstGeom>
          <a:solidFill>
            <a:srgbClr val="185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200000">
            <a:off x="7498079" y="0"/>
            <a:ext cx="2560320" cy="6858000"/>
          </a:xfrm>
          <a:prstGeom prst="rect">
            <a:avLst/>
          </a:prstGeom>
          <a:solidFill>
            <a:srgbClr val="195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200000">
            <a:off x="8549640" y="0"/>
            <a:ext cx="2560320" cy="6858000"/>
          </a:xfrm>
          <a:prstGeom prst="rect">
            <a:avLst/>
          </a:prstGeom>
          <a:solidFill>
            <a:srgbClr val="1A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200000">
            <a:off x="9601200" y="0"/>
            <a:ext cx="2560320" cy="6858000"/>
          </a:xfrm>
          <a:prstGeom prst="rect">
            <a:avLst/>
          </a:prstGeom>
          <a:solidFill>
            <a:srgbClr val="1B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200000">
            <a:off x="10652759" y="0"/>
            <a:ext cx="2560320" cy="6858000"/>
          </a:xfrm>
          <a:prstGeom prst="rect">
            <a:avLst/>
          </a:prstGeom>
          <a:solidFill>
            <a:srgbClr val="1D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1554480"/>
            <a:ext cx="10835640" cy="4480560"/>
          </a:xfrm>
          <a:prstGeom prst="round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 | DİNÎ ÖNEMİ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1874519"/>
            <a:ext cx="1005840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Kâbe'nin Mekke'de bulunması şehrin temel dinî özelliğidir.</a:t>
            </a:r>
          </a:p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İslam'dan önce de Araplar için önemli bir ziyaret merkeziydi.</a:t>
            </a:r>
          </a:p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İslam'ın gelmesiyle Mekke'nin dinî önemi daha da arttı.</a:t>
            </a:r>
          </a:p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Hac ve umre için Müslümanlar Mekke'ye gelir.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236208"/>
            <a:ext cx="1371600" cy="109728"/>
          </a:xfrm>
          <a:prstGeom prst="rect">
            <a:avLst/>
          </a:prstGeom>
          <a:solidFill>
            <a:srgbClr val="DCB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200000">
            <a:off x="-914400" y="0"/>
            <a:ext cx="2560320" cy="6858000"/>
          </a:xfrm>
          <a:prstGeom prst="rect">
            <a:avLst/>
          </a:prstGeom>
          <a:solidFill>
            <a:srgbClr val="372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200000">
            <a:off x="137159" y="0"/>
            <a:ext cx="2560320" cy="6858000"/>
          </a:xfrm>
          <a:prstGeom prst="rect">
            <a:avLst/>
          </a:prstGeom>
          <a:solidFill>
            <a:srgbClr val="342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200000">
            <a:off x="1188719" y="0"/>
            <a:ext cx="2560320" cy="6858000"/>
          </a:xfrm>
          <a:prstGeom prst="rect">
            <a:avLst/>
          </a:prstGeom>
          <a:solidFill>
            <a:srgbClr val="322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200000">
            <a:off x="2240279" y="0"/>
            <a:ext cx="2560320" cy="6858000"/>
          </a:xfrm>
          <a:prstGeom prst="rect">
            <a:avLst/>
          </a:prstGeom>
          <a:solidFill>
            <a:srgbClr val="303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200000">
            <a:off x="3291839" y="0"/>
            <a:ext cx="2560320" cy="6858000"/>
          </a:xfrm>
          <a:prstGeom prst="rect">
            <a:avLst/>
          </a:prstGeom>
          <a:solidFill>
            <a:srgbClr val="2E3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200000">
            <a:off x="4343400" y="0"/>
            <a:ext cx="2560320" cy="6858000"/>
          </a:xfrm>
          <a:prstGeom prst="rect">
            <a:avLst/>
          </a:prstGeom>
          <a:solidFill>
            <a:srgbClr val="2C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200000">
            <a:off x="5394959" y="0"/>
            <a:ext cx="2560320" cy="6858000"/>
          </a:xfrm>
          <a:prstGeom prst="rect">
            <a:avLst/>
          </a:prstGeom>
          <a:solidFill>
            <a:srgbClr val="2941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200000">
            <a:off x="6446519" y="0"/>
            <a:ext cx="2560320" cy="6858000"/>
          </a:xfrm>
          <a:prstGeom prst="rect">
            <a:avLst/>
          </a:prstGeom>
          <a:solidFill>
            <a:srgbClr val="274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200000">
            <a:off x="7498079" y="0"/>
            <a:ext cx="2560320" cy="6858000"/>
          </a:xfrm>
          <a:prstGeom prst="rect">
            <a:avLst/>
          </a:prstGeom>
          <a:solidFill>
            <a:srgbClr val="254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200000">
            <a:off x="8549640" y="0"/>
            <a:ext cx="2560320" cy="6858000"/>
          </a:xfrm>
          <a:prstGeom prst="rect">
            <a:avLst/>
          </a:prstGeom>
          <a:solidFill>
            <a:srgbClr val="235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200000">
            <a:off x="9601200" y="0"/>
            <a:ext cx="2560320" cy="6858000"/>
          </a:xfrm>
          <a:prstGeom prst="rect">
            <a:avLst/>
          </a:prstGeom>
          <a:solidFill>
            <a:srgbClr val="21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200000">
            <a:off x="10652759" y="0"/>
            <a:ext cx="2560320" cy="6858000"/>
          </a:xfrm>
          <a:prstGeom prst="rect">
            <a:avLst/>
          </a:prstGeom>
          <a:solidFill>
            <a:srgbClr val="1F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1554480"/>
            <a:ext cx="10835640" cy="4480560"/>
          </a:xfrm>
          <a:prstGeom prst="round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2 | EKONOMİK ÖNEMİ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1874519"/>
            <a:ext cx="1005840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Çevresi tarım için elverişli olmadığından ticaret önemli bir geçim kaynağıydı.</a:t>
            </a:r>
          </a:p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Kureyş kabilesi ticaret kervanları düzenliyordu.</a:t>
            </a:r>
          </a:p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Kışın Yemen'e, yazın Şam bölgesine seferler yapılıyordu.</a:t>
            </a:r>
          </a:p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Hac dönemleri alışverişi artırdı; panayırlar ekonomik hayatı destekledi.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236208"/>
            <a:ext cx="1371600" cy="109728"/>
          </a:xfrm>
          <a:prstGeom prst="rect">
            <a:avLst/>
          </a:prstGeom>
          <a:solidFill>
            <a:srgbClr val="D6A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200000">
            <a:off x="-914400" y="0"/>
            <a:ext cx="2560320" cy="6858000"/>
          </a:xfrm>
          <a:prstGeom prst="rect">
            <a:avLst/>
          </a:prstGeom>
          <a:solidFill>
            <a:srgbClr val="542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200000">
            <a:off x="137159" y="0"/>
            <a:ext cx="2560320" cy="6858000"/>
          </a:xfrm>
          <a:prstGeom prst="rect">
            <a:avLst/>
          </a:prstGeom>
          <a:solidFill>
            <a:srgbClr val="5A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200000">
            <a:off x="1188719" y="0"/>
            <a:ext cx="2560320" cy="6858000"/>
          </a:xfrm>
          <a:prstGeom prst="rect">
            <a:avLst/>
          </a:prstGeom>
          <a:solidFill>
            <a:srgbClr val="603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200000">
            <a:off x="2240279" y="0"/>
            <a:ext cx="2560320" cy="6858000"/>
          </a:xfrm>
          <a:prstGeom prst="rect">
            <a:avLst/>
          </a:prstGeom>
          <a:solidFill>
            <a:srgbClr val="66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200000">
            <a:off x="3291839" y="0"/>
            <a:ext cx="2560320" cy="6858000"/>
          </a:xfrm>
          <a:prstGeom prst="rect">
            <a:avLst/>
          </a:prstGeom>
          <a:solidFill>
            <a:srgbClr val="6C3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200000">
            <a:off x="4343400" y="0"/>
            <a:ext cx="2560320" cy="6858000"/>
          </a:xfrm>
          <a:prstGeom prst="rect">
            <a:avLst/>
          </a:prstGeom>
          <a:solidFill>
            <a:srgbClr val="723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200000">
            <a:off x="5394959" y="0"/>
            <a:ext cx="2560320" cy="6858000"/>
          </a:xfrm>
          <a:prstGeom prst="rect">
            <a:avLst/>
          </a:prstGeom>
          <a:solidFill>
            <a:srgbClr val="784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200000">
            <a:off x="6446519" y="0"/>
            <a:ext cx="2560320" cy="6858000"/>
          </a:xfrm>
          <a:prstGeom prst="rect">
            <a:avLst/>
          </a:prstGeom>
          <a:solidFill>
            <a:srgbClr val="7E4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200000">
            <a:off x="7498079" y="0"/>
            <a:ext cx="2560320" cy="6858000"/>
          </a:xfrm>
          <a:prstGeom prst="rect">
            <a:avLst/>
          </a:prstGeom>
          <a:solidFill>
            <a:srgbClr val="84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200000">
            <a:off x="8549640" y="0"/>
            <a:ext cx="2560320" cy="6858000"/>
          </a:xfrm>
          <a:prstGeom prst="rect">
            <a:avLst/>
          </a:prstGeom>
          <a:solidFill>
            <a:srgbClr val="8A4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200000">
            <a:off x="9601200" y="0"/>
            <a:ext cx="2560320" cy="6858000"/>
          </a:xfrm>
          <a:prstGeom prst="rect">
            <a:avLst/>
          </a:prstGeom>
          <a:solidFill>
            <a:srgbClr val="904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200000">
            <a:off x="10652759" y="0"/>
            <a:ext cx="2560320" cy="6858000"/>
          </a:xfrm>
          <a:prstGeom prst="rect">
            <a:avLst/>
          </a:prstGeom>
          <a:solidFill>
            <a:srgbClr val="975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1554480"/>
            <a:ext cx="10835640" cy="4480560"/>
          </a:xfrm>
          <a:prstGeom prst="round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3 | SİYASÎ VE TOPLUMSAL ÖNEMİ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1874519"/>
            <a:ext cx="1005840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Kureyş zamanla Mekke'nin yönetiminde güçlü hâle geldi.</a:t>
            </a:r>
          </a:p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Kâbe ile ilgili görevler ve şehir yönetimi Kureyş'in elindeydi.</a:t>
            </a:r>
          </a:p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Dârünnedve, önemli konuların görüşüldüğü siyasî bir merkezdi.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236208"/>
            <a:ext cx="1371600" cy="109728"/>
          </a:xfrm>
          <a:prstGeom prst="rect">
            <a:avLst/>
          </a:prstGeom>
          <a:solidFill>
            <a:srgbClr val="E8B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200000">
            <a:off x="-914400" y="0"/>
            <a:ext cx="2560320" cy="6858000"/>
          </a:xfrm>
          <a:prstGeom prst="rect">
            <a:avLst/>
          </a:prstGeom>
          <a:solidFill>
            <a:srgbClr val="1C3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200000">
            <a:off x="137159" y="0"/>
            <a:ext cx="2560320" cy="6858000"/>
          </a:xfrm>
          <a:prstGeom prst="rect">
            <a:avLst/>
          </a:prstGeom>
          <a:solidFill>
            <a:srgbClr val="203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200000">
            <a:off x="1188719" y="0"/>
            <a:ext cx="2560320" cy="6858000"/>
          </a:xfrm>
          <a:prstGeom prst="rect">
            <a:avLst/>
          </a:prstGeom>
          <a:solidFill>
            <a:srgbClr val="253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200000">
            <a:off x="2240279" y="0"/>
            <a:ext cx="2560320" cy="6858000"/>
          </a:xfrm>
          <a:prstGeom prst="rect">
            <a:avLst/>
          </a:prstGeom>
          <a:solidFill>
            <a:srgbClr val="2A3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200000">
            <a:off x="3291839" y="0"/>
            <a:ext cx="2560320" cy="6858000"/>
          </a:xfrm>
          <a:prstGeom prst="rect">
            <a:avLst/>
          </a:prstGeom>
          <a:solidFill>
            <a:srgbClr val="2F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200000">
            <a:off x="4343400" y="0"/>
            <a:ext cx="2560320" cy="6858000"/>
          </a:xfrm>
          <a:prstGeom prst="rect">
            <a:avLst/>
          </a:prstGeom>
          <a:solidFill>
            <a:srgbClr val="343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200000">
            <a:off x="5394959" y="0"/>
            <a:ext cx="2560320" cy="6858000"/>
          </a:xfrm>
          <a:prstGeom prst="rect">
            <a:avLst/>
          </a:prstGeom>
          <a:solidFill>
            <a:srgbClr val="39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200000">
            <a:off x="6446519" y="0"/>
            <a:ext cx="2560320" cy="6858000"/>
          </a:xfrm>
          <a:prstGeom prst="rect">
            <a:avLst/>
          </a:prstGeom>
          <a:solidFill>
            <a:srgbClr val="3E33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200000">
            <a:off x="7498079" y="0"/>
            <a:ext cx="2560320" cy="6858000"/>
          </a:xfrm>
          <a:prstGeom prst="rect">
            <a:avLst/>
          </a:prstGeom>
          <a:solidFill>
            <a:srgbClr val="43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200000">
            <a:off x="8549640" y="0"/>
            <a:ext cx="2560320" cy="6858000"/>
          </a:xfrm>
          <a:prstGeom prst="rect">
            <a:avLst/>
          </a:prstGeom>
          <a:solidFill>
            <a:srgbClr val="483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200000">
            <a:off x="9601200" y="0"/>
            <a:ext cx="2560320" cy="6858000"/>
          </a:xfrm>
          <a:prstGeom prst="rect">
            <a:avLst/>
          </a:prstGeom>
          <a:solidFill>
            <a:srgbClr val="4D3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200000">
            <a:off x="10652759" y="0"/>
            <a:ext cx="2560320" cy="6858000"/>
          </a:xfrm>
          <a:prstGeom prst="rect">
            <a:avLst/>
          </a:prstGeom>
          <a:solidFill>
            <a:srgbClr val="52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1554480"/>
            <a:ext cx="10835640" cy="4480560"/>
          </a:xfrm>
          <a:prstGeom prst="round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4 | KAYNAKLARIN KARŞILAŞTIRILMASI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1874519"/>
            <a:ext cx="1005840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TDV İslâm Ansiklopedisi: Kâbe ve hac faaliyetlerinin önemini vurgular.</a:t>
            </a:r>
          </a:p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Kureyş ile ilgili kaynaklar: ticaret ve güvenlik üzerinde durur.</a:t>
            </a:r>
          </a:p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Diyanet'in Kureyş Suresi tefsiri: kış ve yaz ticaret yolculuklarına dikkat çeker.</a:t>
            </a:r>
          </a:p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Ortak sonuç: Dinî önem, ticaret, güvenlik ve hac faaliyetleri birbirini desteklemiştir.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236208"/>
            <a:ext cx="1371600" cy="109728"/>
          </a:xfrm>
          <a:prstGeom prst="rect">
            <a:avLst/>
          </a:prstGeom>
          <a:solidFill>
            <a:srgbClr val="E2B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200000">
            <a:off x="-914400" y="0"/>
            <a:ext cx="2560320" cy="6858000"/>
          </a:xfrm>
          <a:prstGeom prst="rect">
            <a:avLst/>
          </a:prstGeom>
          <a:solidFill>
            <a:srgbClr val="144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200000">
            <a:off x="137159" y="0"/>
            <a:ext cx="2560320" cy="6858000"/>
          </a:xfrm>
          <a:prstGeom prst="rect">
            <a:avLst/>
          </a:prstGeom>
          <a:solidFill>
            <a:srgbClr val="144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200000">
            <a:off x="1188719" y="0"/>
            <a:ext cx="2560320" cy="6858000"/>
          </a:xfrm>
          <a:prstGeom prst="rect">
            <a:avLst/>
          </a:prstGeom>
          <a:solidFill>
            <a:srgbClr val="144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200000">
            <a:off x="2240279" y="0"/>
            <a:ext cx="2560320" cy="6858000"/>
          </a:xfrm>
          <a:prstGeom prst="rect">
            <a:avLst/>
          </a:prstGeom>
          <a:solidFill>
            <a:srgbClr val="155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200000">
            <a:off x="3291839" y="0"/>
            <a:ext cx="2560320" cy="6858000"/>
          </a:xfrm>
          <a:prstGeom prst="rect">
            <a:avLst/>
          </a:prstGeom>
          <a:solidFill>
            <a:srgbClr val="155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200000">
            <a:off x="4343400" y="0"/>
            <a:ext cx="2560320" cy="6858000"/>
          </a:xfrm>
          <a:prstGeom prst="rect">
            <a:avLst/>
          </a:prstGeom>
          <a:solidFill>
            <a:srgbClr val="165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200000">
            <a:off x="5394959" y="0"/>
            <a:ext cx="2560320" cy="6858000"/>
          </a:xfrm>
          <a:prstGeom prst="rect">
            <a:avLst/>
          </a:prstGeom>
          <a:solidFill>
            <a:srgbClr val="165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200000">
            <a:off x="6446519" y="0"/>
            <a:ext cx="2560320" cy="6858000"/>
          </a:xfrm>
          <a:prstGeom prst="rect">
            <a:avLst/>
          </a:prstGeom>
          <a:solidFill>
            <a:srgbClr val="176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200000">
            <a:off x="7498079" y="0"/>
            <a:ext cx="2560320" cy="6858000"/>
          </a:xfrm>
          <a:prstGeom prst="rect">
            <a:avLst/>
          </a:prstGeom>
          <a:solidFill>
            <a:srgbClr val="176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200000">
            <a:off x="8549640" y="0"/>
            <a:ext cx="2560320" cy="6858000"/>
          </a:xfrm>
          <a:prstGeom prst="rect">
            <a:avLst/>
          </a:prstGeom>
          <a:solidFill>
            <a:srgbClr val="18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200000">
            <a:off x="9601200" y="0"/>
            <a:ext cx="2560320" cy="6858000"/>
          </a:xfrm>
          <a:prstGeom prst="rect">
            <a:avLst/>
          </a:prstGeom>
          <a:solidFill>
            <a:srgbClr val="186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200000">
            <a:off x="10652759" y="0"/>
            <a:ext cx="2560320" cy="6858000"/>
          </a:xfrm>
          <a:prstGeom prst="rect">
            <a:avLst/>
          </a:prstGeom>
          <a:solidFill>
            <a:srgbClr val="197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1554480"/>
            <a:ext cx="10835640" cy="4480560"/>
          </a:xfrm>
          <a:prstGeom prst="round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5 | MEKKE'Yİ ÖNEMLİ YAPANLAR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1874519"/>
            <a:ext cx="1005840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Dinî merkez — Kâbe</a:t>
            </a:r>
          </a:p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Hac ve ziyaretler — sürekli hareketlilik</a:t>
            </a:r>
          </a:p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Ticaret — Kureyş kervanları</a:t>
            </a:r>
          </a:p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Güvenlik — kutsal kabul edilen şehir</a:t>
            </a:r>
          </a:p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Panayırlar — ticaret ve toplumsal ilişkiler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236208"/>
            <a:ext cx="1371600" cy="109728"/>
          </a:xfrm>
          <a:prstGeom prst="rect">
            <a:avLst/>
          </a:prstGeom>
          <a:solidFill>
            <a:srgbClr val="DEB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200000">
            <a:off x="-914400" y="0"/>
            <a:ext cx="2560320" cy="6858000"/>
          </a:xfrm>
          <a:prstGeom prst="rect">
            <a:avLst/>
          </a:prstGeom>
          <a:solidFill>
            <a:srgbClr val="2A2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200000">
            <a:off x="137159" y="0"/>
            <a:ext cx="2560320" cy="6858000"/>
          </a:xfrm>
          <a:prstGeom prst="rect">
            <a:avLst/>
          </a:prstGeom>
          <a:solidFill>
            <a:srgbClr val="2F2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200000">
            <a:off x="1188719" y="0"/>
            <a:ext cx="2560320" cy="6858000"/>
          </a:xfrm>
          <a:prstGeom prst="rect">
            <a:avLst/>
          </a:prstGeom>
          <a:solidFill>
            <a:srgbClr val="35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200000">
            <a:off x="2240279" y="0"/>
            <a:ext cx="2560320" cy="6858000"/>
          </a:xfrm>
          <a:prstGeom prst="rect">
            <a:avLst/>
          </a:prstGeom>
          <a:solidFill>
            <a:srgbClr val="3B2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200000">
            <a:off x="3291839" y="0"/>
            <a:ext cx="2560320" cy="6858000"/>
          </a:xfrm>
          <a:prstGeom prst="rect">
            <a:avLst/>
          </a:prstGeom>
          <a:solidFill>
            <a:srgbClr val="412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200000">
            <a:off x="4343400" y="0"/>
            <a:ext cx="2560320" cy="6858000"/>
          </a:xfrm>
          <a:prstGeom prst="rect">
            <a:avLst/>
          </a:prstGeom>
          <a:solidFill>
            <a:srgbClr val="4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200000">
            <a:off x="5394959" y="0"/>
            <a:ext cx="2560320" cy="6858000"/>
          </a:xfrm>
          <a:prstGeom prst="rect">
            <a:avLst/>
          </a:prstGeom>
          <a:solidFill>
            <a:srgbClr val="4C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200000">
            <a:off x="6446519" y="0"/>
            <a:ext cx="2560320" cy="6858000"/>
          </a:xfrm>
          <a:prstGeom prst="rect">
            <a:avLst/>
          </a:prstGeom>
          <a:solidFill>
            <a:srgbClr val="52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200000">
            <a:off x="7498079" y="0"/>
            <a:ext cx="2560320" cy="6858000"/>
          </a:xfrm>
          <a:prstGeom prst="rect">
            <a:avLst/>
          </a:prstGeom>
          <a:solidFill>
            <a:srgbClr val="58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200000">
            <a:off x="8549640" y="0"/>
            <a:ext cx="2560320" cy="6858000"/>
          </a:xfrm>
          <a:prstGeom prst="rect">
            <a:avLst/>
          </a:prstGeom>
          <a:solidFill>
            <a:srgbClr val="5E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200000">
            <a:off x="9601200" y="0"/>
            <a:ext cx="2560320" cy="6858000"/>
          </a:xfrm>
          <a:prstGeom prst="rect">
            <a:avLst/>
          </a:prstGeom>
          <a:solidFill>
            <a:srgbClr val="64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200000">
            <a:off x="10652759" y="0"/>
            <a:ext cx="2560320" cy="6858000"/>
          </a:xfrm>
          <a:prstGeom prst="rect">
            <a:avLst/>
          </a:prstGeom>
          <a:solidFill>
            <a:srgbClr val="6A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1554480"/>
            <a:ext cx="10835640" cy="4480560"/>
          </a:xfrm>
          <a:prstGeom prst="round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SONUÇ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1874519"/>
            <a:ext cx="1005840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En temel unsur Kâbe'dir.</a:t>
            </a:r>
          </a:p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Kâbe, Mekke'yi dinî bir merkez hâline getirmiştir.</a:t>
            </a:r>
          </a:p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Hac ve ziyaretler şehre insanları çekmiştir.</a:t>
            </a:r>
          </a:p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Ticaret ve panayırlar ekonomik önemi artırmıştır.</a:t>
            </a:r>
          </a:p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Böylece Mekke dinî, ekonomik ve siyasî açıdan önemli bir şehir olmuştur.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236208"/>
            <a:ext cx="1371600" cy="109728"/>
          </a:xfrm>
          <a:prstGeom prst="rect">
            <a:avLst/>
          </a:prstGeom>
          <a:solidFill>
            <a:srgbClr val="E0A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200000">
            <a:off x="-914400" y="0"/>
            <a:ext cx="2560320" cy="6858000"/>
          </a:xfrm>
          <a:prstGeom prst="rect">
            <a:avLst/>
          </a:prstGeom>
          <a:solidFill>
            <a:srgbClr val="1A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200000">
            <a:off x="137159" y="0"/>
            <a:ext cx="2560320" cy="6858000"/>
          </a:xfrm>
          <a:prstGeom prst="rect">
            <a:avLst/>
          </a:prstGeom>
          <a:solidFill>
            <a:srgbClr val="1C3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200000">
            <a:off x="1188719" y="0"/>
            <a:ext cx="2560320" cy="6858000"/>
          </a:xfrm>
          <a:prstGeom prst="rect">
            <a:avLst/>
          </a:prstGeom>
          <a:solidFill>
            <a:srgbClr val="1F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200000">
            <a:off x="2240279" y="0"/>
            <a:ext cx="2560320" cy="6858000"/>
          </a:xfrm>
          <a:prstGeom prst="rect">
            <a:avLst/>
          </a:prstGeom>
          <a:solidFill>
            <a:srgbClr val="213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200000">
            <a:off x="3291839" y="0"/>
            <a:ext cx="2560320" cy="6858000"/>
          </a:xfrm>
          <a:prstGeom prst="rect">
            <a:avLst/>
          </a:prstGeom>
          <a:solidFill>
            <a:srgbClr val="24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200000">
            <a:off x="4343400" y="0"/>
            <a:ext cx="2560320" cy="6858000"/>
          </a:xfrm>
          <a:prstGeom prst="rect">
            <a:avLst/>
          </a:prstGeom>
          <a:solidFill>
            <a:srgbClr val="27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200000">
            <a:off x="5394959" y="0"/>
            <a:ext cx="2560320" cy="6858000"/>
          </a:xfrm>
          <a:prstGeom prst="rect">
            <a:avLst/>
          </a:prstGeom>
          <a:solidFill>
            <a:srgbClr val="2946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200000">
            <a:off x="6446519" y="0"/>
            <a:ext cx="2560320" cy="6858000"/>
          </a:xfrm>
          <a:prstGeom prst="rect">
            <a:avLst/>
          </a:prstGeom>
          <a:solidFill>
            <a:srgbClr val="2C4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200000">
            <a:off x="7498079" y="0"/>
            <a:ext cx="2560320" cy="6858000"/>
          </a:xfrm>
          <a:prstGeom prst="rect">
            <a:avLst/>
          </a:prstGeom>
          <a:solidFill>
            <a:srgbClr val="2F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200000">
            <a:off x="8549640" y="0"/>
            <a:ext cx="2560320" cy="6858000"/>
          </a:xfrm>
          <a:prstGeom prst="rect">
            <a:avLst/>
          </a:prstGeom>
          <a:solidFill>
            <a:srgbClr val="315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200000">
            <a:off x="9601200" y="0"/>
            <a:ext cx="2560320" cy="6858000"/>
          </a:xfrm>
          <a:prstGeom prst="rect">
            <a:avLst/>
          </a:prstGeom>
          <a:solidFill>
            <a:srgbClr val="345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200000">
            <a:off x="10652759" y="0"/>
            <a:ext cx="2560320" cy="6858000"/>
          </a:xfrm>
          <a:prstGeom prst="rect">
            <a:avLst/>
          </a:prstGeom>
          <a:solidFill>
            <a:srgbClr val="375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1554480"/>
            <a:ext cx="10835640" cy="4480560"/>
          </a:xfrm>
          <a:prstGeom prst="round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KAYNAKLAR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1874519"/>
            <a:ext cx="1005840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TDV İslâm Ansiklopedisi, “Mekke” maddesi.</a:t>
            </a:r>
          </a:p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TDV İslâm Ansiklopedisi, “Kureyş” maddesi.</a:t>
            </a:r>
          </a:p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TDV İslâm Ansiklopedisi, “Kâbe” maddesi.</a:t>
            </a:r>
          </a:p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Diyanet İşleri Başkanlığı, Kureyş Suresi Tefsiri.</a:t>
            </a:r>
          </a:p>
          <a:p>
            <a:pPr>
              <a:spcAft>
                <a:spcPts val="1400"/>
              </a:spcAft>
              <a:defRPr sz="2000">
                <a:solidFill>
                  <a:srgbClr val="23282D"/>
                </a:solidFill>
              </a:defRPr>
            </a:pPr>
            <a:r>
              <a:t>Mekke'nin İslam öncesi dinî ve ticari yapısını inceleyen akademik çalışmalar.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236208"/>
            <a:ext cx="1371600" cy="109728"/>
          </a:xfrm>
          <a:prstGeom prst="rect">
            <a:avLst/>
          </a:prstGeom>
          <a:solidFill>
            <a:srgbClr val="C99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